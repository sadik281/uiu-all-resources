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74" r:id="rId8"/>
    <p:sldId id="262" r:id="rId9"/>
    <p:sldId id="277" r:id="rId10"/>
    <p:sldId id="275" r:id="rId11"/>
    <p:sldId id="263" r:id="rId12"/>
    <p:sldId id="276" r:id="rId13"/>
    <p:sldId id="264" r:id="rId14"/>
    <p:sldId id="265" r:id="rId15"/>
    <p:sldId id="278" r:id="rId16"/>
    <p:sldId id="266" r:id="rId17"/>
    <p:sldId id="279" r:id="rId18"/>
    <p:sldId id="268" r:id="rId19"/>
    <p:sldId id="267" r:id="rId20"/>
    <p:sldId id="269" r:id="rId21"/>
    <p:sldId id="280" r:id="rId22"/>
    <p:sldId id="270" r:id="rId23"/>
    <p:sldId id="281" r:id="rId24"/>
    <p:sldId id="271" r:id="rId25"/>
    <p:sldId id="282" r:id="rId26"/>
    <p:sldId id="272" r:id="rId27"/>
    <p:sldId id="283" r:id="rId28"/>
    <p:sldId id="27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6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681D-4516-257D-2B9F-D20C87E57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84176-9C3D-6F41-E18B-14A70D493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05EF2-1106-A721-D8DE-ECEF3807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5F1BA-CFCB-6F6D-5FB5-D0126A2A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22AC3-A5FF-4C56-9614-2EFF8861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6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751C-D106-536C-E065-FDE84188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A5A6A-36E6-96F5-BFEC-269970438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2F606-8873-7538-0A58-6E59621C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EF0E3-6E65-A336-1582-F9043876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A31C-82E4-8579-8F59-0318FF3F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1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35F12-95F8-E161-A0C2-2F43BCED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190C3-1119-D26F-71BD-1F061D4EC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70057-6CB5-7C2A-01B9-A44BDEFA3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F2E7A-A5D9-2220-50B3-42D54AE6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6D1DD-B176-1B55-F53E-61C0D450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8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38763-6FB9-4F31-FC18-0016461A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6A1E-ADE1-F7D3-3D2F-126EDF163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48B44-ADFB-3475-8A57-05A256FC4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352C2-C147-6121-2054-5F3EEF3B0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FF0A4-2DF8-1A92-E0F9-1F3F5E3C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ED08E-AC1F-BE46-36D6-8A8AD9AE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E899-AE87-BD0E-4903-E8EE36B2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E331-D430-842E-5591-9D33C288F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B9DCC-4896-AAFB-33CA-3DBA9F8A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026559-E11F-2B72-30BC-1D6575625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3D8C5-732E-73E6-D835-CB9EADACE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79F2CB-B9BE-EB8D-D418-162C62E7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70D11-2B66-1C03-6100-93CB6994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0038C-F077-8359-29FE-BAC261B8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9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A0A1-5B58-6B7A-E9E0-99E86CD1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E8CD2-E548-3BF6-0835-8533557B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DABCC-75CD-3045-EBDA-130A7434B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DF7E6-1652-9067-1701-BC5E6D41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4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BD76F-232E-D4F4-7E9E-8F27DC4F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303392-94F7-FE7B-4FD2-FB269286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EDB67-0C07-E1D2-30FA-89496E3B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0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A327-06D5-CC1A-54EF-94F1A013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F8E5-7170-F588-C948-856442AD2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DDFEA-79D5-4363-4504-9ADE86B58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3CE73-B7D3-D952-770B-29C8A150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91D0C-C73F-AAAC-BE42-7B0C7BF6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D9AC5-F3E1-B962-6AD3-B79B72B0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B27A-AD65-FE4E-3917-D4192CCC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2ACD3-63E0-DB3B-35A0-64E1DCCAC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DB504-11D0-0E05-8605-2BF642076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20DF2-7CC0-F4ED-988C-CB2665E5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E0314-3F1A-B8EE-0822-DBF0F649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97766-3EFE-CE6B-E4EA-F45569BE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5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6F8E-4B77-5601-0880-2B5E9A94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4564B-5C52-A728-E7CD-0EB6B27E5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92F61-79BB-AB79-4F5C-98AF7C49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9C702-FB50-7992-E784-5967F658E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6A91-0829-CF67-137A-6AE2EE1A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13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AB6D3-49E0-8086-BC96-8CBE35442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7FA2F-6A70-4B96-79EF-AFC9EB7FE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1C672-8B50-2B22-F785-C5F1A50B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9D671-CCB1-00F1-8458-8D43F699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299A-98B8-67DE-C6DA-E5CB696A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8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BA286-39F5-C499-20F5-BE9BD44B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2578E-8857-C382-D850-0A0BDAD80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03B9-382E-A525-5634-F14568B63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384FF-26EB-45F4-B941-C229F65DA031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67A5A-F70E-595C-9474-6A5368CB9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C2773-6B2B-D4DC-628C-70EB168E2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1DEB2-8EE4-4067-900E-E488EDD71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1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4D75-625C-F7A1-F283-43628CB39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Mapping (V1)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75CD4-212D-07FD-5244-75B4A41DB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Practise</a:t>
            </a:r>
            <a:r>
              <a:rPr lang="en-US" dirty="0"/>
              <a:t> Problems</a:t>
            </a:r>
          </a:p>
        </p:txBody>
      </p:sp>
    </p:spTree>
    <p:extLst>
      <p:ext uri="{BB962C8B-B14F-4D97-AF65-F5344CB8AC3E}">
        <p14:creationId xmlns:p14="http://schemas.microsoft.com/office/powerpoint/2010/main" val="264507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2AFC92-41ED-EA89-8F06-C536D2BFEA55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0’th</a:t>
            </a:r>
            <a:r>
              <a:rPr lang="en-US" dirty="0"/>
              <a:t> byte. To store an Integer number, it takes 4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[3] assuming the array starts at 0’th index.</a:t>
            </a:r>
          </a:p>
        </p:txBody>
      </p:sp>
    </p:spTree>
    <p:extLst>
      <p:ext uri="{BB962C8B-B14F-4D97-AF65-F5344CB8AC3E}">
        <p14:creationId xmlns:p14="http://schemas.microsoft.com/office/powerpoint/2010/main" val="326310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DE99-25CF-3DAB-8675-A90E8581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6B2BEA-544E-495F-E994-FBB6C4B0BBBA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100’th</a:t>
            </a:r>
            <a:r>
              <a:rPr lang="en-US" dirty="0"/>
              <a:t> byte. To store an Integer number, it takes 4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[32] assuming the array starts at 0’th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FE38A-09B3-EB56-566C-B8D30FF98E4D}"/>
              </a:ext>
            </a:extLst>
          </p:cNvPr>
          <p:cNvSpPr txBox="1"/>
          <p:nvPr/>
        </p:nvSpPr>
        <p:spPr>
          <a:xfrm>
            <a:off x="4467216" y="2967335"/>
            <a:ext cx="245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100 + 32 * 4 = 228</a:t>
            </a:r>
          </a:p>
        </p:txBody>
      </p:sp>
    </p:spTree>
    <p:extLst>
      <p:ext uri="{BB962C8B-B14F-4D97-AF65-F5344CB8AC3E}">
        <p14:creationId xmlns:p14="http://schemas.microsoft.com/office/powerpoint/2010/main" val="3823547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1ECADF-4EE4-F94A-7C01-D593879F7080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100’th</a:t>
            </a:r>
            <a:r>
              <a:rPr lang="en-US" dirty="0"/>
              <a:t> byte. To store an Integer number, it takes 4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[32] assuming the array starts at 0’th index.</a:t>
            </a:r>
          </a:p>
        </p:txBody>
      </p:sp>
    </p:spTree>
    <p:extLst>
      <p:ext uri="{BB962C8B-B14F-4D97-AF65-F5344CB8AC3E}">
        <p14:creationId xmlns:p14="http://schemas.microsoft.com/office/powerpoint/2010/main" val="149540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4F15-7F3C-5073-7E93-8415E2DF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796941-714A-4101-9291-AAA76A2EBC7C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0’th</a:t>
            </a:r>
            <a:r>
              <a:rPr lang="en-US" dirty="0"/>
              <a:t> byte. To store an Integer number, it takes 4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[3] assuming the array starts at 0’th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46A3E-3676-F806-AF40-2B8F5C98FFA5}"/>
              </a:ext>
            </a:extLst>
          </p:cNvPr>
          <p:cNvSpPr txBox="1"/>
          <p:nvPr/>
        </p:nvSpPr>
        <p:spPr>
          <a:xfrm>
            <a:off x="4559734" y="3429000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0 + 3 * 4 = 12</a:t>
            </a:r>
          </a:p>
        </p:txBody>
      </p:sp>
    </p:spTree>
    <p:extLst>
      <p:ext uri="{BB962C8B-B14F-4D97-AF65-F5344CB8AC3E}">
        <p14:creationId xmlns:p14="http://schemas.microsoft.com/office/powerpoint/2010/main" val="297450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60B4C-3FA8-ECE6-6514-D4D9504C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11207-1732-2FB7-11A8-651DB57E40CA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B</a:t>
            </a:r>
            <a:r>
              <a:rPr lang="en-US" dirty="0"/>
              <a:t> byte. To store an Integer number, it takes </a:t>
            </a:r>
            <a:r>
              <a:rPr lang="en-US" b="1" dirty="0"/>
              <a:t>L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assuming the array starts at 0’th index.</a:t>
            </a:r>
          </a:p>
        </p:txBody>
      </p:sp>
    </p:spTree>
    <p:extLst>
      <p:ext uri="{BB962C8B-B14F-4D97-AF65-F5344CB8AC3E}">
        <p14:creationId xmlns:p14="http://schemas.microsoft.com/office/powerpoint/2010/main" val="323718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E47C0-AC4C-DAF4-427D-F3B792B0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A696D-083F-E347-6712-E7D32231EF55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B</a:t>
            </a:r>
            <a:r>
              <a:rPr lang="en-US" dirty="0"/>
              <a:t> byte. To store an Integer number, it takes </a:t>
            </a:r>
            <a:r>
              <a:rPr lang="en-US" b="1" dirty="0"/>
              <a:t>L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assuming the array starts at 0’th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45B31-BEBB-F2D8-BD65-C7D7275773D9}"/>
              </a:ext>
            </a:extLst>
          </p:cNvPr>
          <p:cNvSpPr txBox="1"/>
          <p:nvPr/>
        </p:nvSpPr>
        <p:spPr>
          <a:xfrm>
            <a:off x="5017046" y="2878845"/>
            <a:ext cx="1204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 +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* L </a:t>
            </a:r>
          </a:p>
        </p:txBody>
      </p:sp>
    </p:spTree>
    <p:extLst>
      <p:ext uri="{BB962C8B-B14F-4D97-AF65-F5344CB8AC3E}">
        <p14:creationId xmlns:p14="http://schemas.microsoft.com/office/powerpoint/2010/main" val="965078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59C98-7B93-3DB6-8ABA-14AB7C1E8B92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0’th</a:t>
            </a:r>
            <a:r>
              <a:rPr lang="en-US" dirty="0"/>
              <a:t> byte. To store an Integer number, it takes </a:t>
            </a:r>
            <a:r>
              <a:rPr lang="en-US" b="1" dirty="0"/>
              <a:t>4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[2] assuming the array starts at 1’st index.</a:t>
            </a:r>
          </a:p>
        </p:txBody>
      </p:sp>
    </p:spTree>
    <p:extLst>
      <p:ext uri="{BB962C8B-B14F-4D97-AF65-F5344CB8AC3E}">
        <p14:creationId xmlns:p14="http://schemas.microsoft.com/office/powerpoint/2010/main" val="290979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EEB2B-180F-099F-0F9C-AB70EFE8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BF7AF-CF4E-7670-5702-03C4B74DA73E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0’th</a:t>
            </a:r>
            <a:r>
              <a:rPr lang="en-US" dirty="0"/>
              <a:t> byte. To store an Integer number, it takes </a:t>
            </a:r>
            <a:r>
              <a:rPr lang="en-US" b="1" dirty="0"/>
              <a:t>4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[2] assuming the array starts at 1’st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282B3-1279-97D9-176A-43FA08AA7040}"/>
              </a:ext>
            </a:extLst>
          </p:cNvPr>
          <p:cNvSpPr txBox="1"/>
          <p:nvPr/>
        </p:nvSpPr>
        <p:spPr>
          <a:xfrm>
            <a:off x="5017046" y="2878845"/>
            <a:ext cx="2005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0 + (2 – 1) * 4 </a:t>
            </a:r>
          </a:p>
        </p:txBody>
      </p:sp>
    </p:spTree>
    <p:extLst>
      <p:ext uri="{BB962C8B-B14F-4D97-AF65-F5344CB8AC3E}">
        <p14:creationId xmlns:p14="http://schemas.microsoft.com/office/powerpoint/2010/main" val="311891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FD24-B113-D056-A3FB-D69EA148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F438E3-B2B7-72F1-89BA-63F14F9E6A09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0’th</a:t>
            </a:r>
            <a:r>
              <a:rPr lang="en-US" dirty="0"/>
              <a:t> byte. To store an Integer number, it takes </a:t>
            </a:r>
            <a:r>
              <a:rPr lang="en-US" b="1" dirty="0"/>
              <a:t>4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[20] assuming the array starts at 1’st index.</a:t>
            </a:r>
          </a:p>
        </p:txBody>
      </p:sp>
    </p:spTree>
    <p:extLst>
      <p:ext uri="{BB962C8B-B14F-4D97-AF65-F5344CB8AC3E}">
        <p14:creationId xmlns:p14="http://schemas.microsoft.com/office/powerpoint/2010/main" val="4263027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3AF0B4-4FE9-621D-32A1-7C345DEDDD04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0’th</a:t>
            </a:r>
            <a:r>
              <a:rPr lang="en-US" dirty="0"/>
              <a:t> byte. To store an Integer number, it takes </a:t>
            </a:r>
            <a:r>
              <a:rPr lang="en-US" b="1" dirty="0"/>
              <a:t>4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[20] assuming the array starts at 1’st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F1D16-45DB-731F-5459-8B605F9EC650}"/>
              </a:ext>
            </a:extLst>
          </p:cNvPr>
          <p:cNvSpPr txBox="1"/>
          <p:nvPr/>
        </p:nvSpPr>
        <p:spPr>
          <a:xfrm>
            <a:off x="5017046" y="2878845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0 + (20 – 1) * 4 </a:t>
            </a:r>
          </a:p>
        </p:txBody>
      </p:sp>
    </p:spTree>
    <p:extLst>
      <p:ext uri="{BB962C8B-B14F-4D97-AF65-F5344CB8AC3E}">
        <p14:creationId xmlns:p14="http://schemas.microsoft.com/office/powerpoint/2010/main" val="315518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5B4C6-F15B-5714-C428-CCECEBAD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405F53-E486-D2E1-37CA-11FB408A18D6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100’th</a:t>
            </a:r>
            <a:r>
              <a:rPr lang="en-US" dirty="0"/>
              <a:t> byte. To store an Integer number, it takes </a:t>
            </a:r>
            <a:r>
              <a:rPr lang="en-US" b="1" dirty="0"/>
              <a:t>4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[10] assuming the array starts at 1’st index.</a:t>
            </a:r>
          </a:p>
        </p:txBody>
      </p:sp>
    </p:spTree>
    <p:extLst>
      <p:ext uri="{BB962C8B-B14F-4D97-AF65-F5344CB8AC3E}">
        <p14:creationId xmlns:p14="http://schemas.microsoft.com/office/powerpoint/2010/main" val="119911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AFA027-A38F-993A-C760-6AB57DF13939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100’th</a:t>
            </a:r>
            <a:r>
              <a:rPr lang="en-US" dirty="0"/>
              <a:t> byte. To store an Integer number, it takes </a:t>
            </a:r>
            <a:r>
              <a:rPr lang="en-US" b="1" dirty="0"/>
              <a:t>4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[10] assuming the array starts at 1’st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84DA7-D822-838C-95B1-0AAB635EB641}"/>
              </a:ext>
            </a:extLst>
          </p:cNvPr>
          <p:cNvSpPr txBox="1"/>
          <p:nvPr/>
        </p:nvSpPr>
        <p:spPr>
          <a:xfrm>
            <a:off x="5017046" y="2878845"/>
            <a:ext cx="2472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100 + (10 – 1) * 4 </a:t>
            </a:r>
          </a:p>
        </p:txBody>
      </p:sp>
    </p:spTree>
    <p:extLst>
      <p:ext uri="{BB962C8B-B14F-4D97-AF65-F5344CB8AC3E}">
        <p14:creationId xmlns:p14="http://schemas.microsoft.com/office/powerpoint/2010/main" val="3354372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72AFF-91D1-C17F-2590-C05A6EAB6AD7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B</a:t>
            </a:r>
            <a:r>
              <a:rPr lang="en-US" dirty="0"/>
              <a:t> byte. To store an Integer number, it takes </a:t>
            </a:r>
            <a:r>
              <a:rPr lang="en-US" b="1" dirty="0"/>
              <a:t>L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assuming the array starts at 1’st index.</a:t>
            </a:r>
          </a:p>
        </p:txBody>
      </p:sp>
    </p:spTree>
    <p:extLst>
      <p:ext uri="{BB962C8B-B14F-4D97-AF65-F5344CB8AC3E}">
        <p14:creationId xmlns:p14="http://schemas.microsoft.com/office/powerpoint/2010/main" val="2130333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748E-661E-95F1-5CFC-6F147211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9E810D-87BA-44D5-57A8-570B86EEF058}"/>
              </a:ext>
            </a:extLst>
          </p:cNvPr>
          <p:cNvSpPr txBox="1"/>
          <p:nvPr/>
        </p:nvSpPr>
        <p:spPr>
          <a:xfrm>
            <a:off x="2133599" y="1327355"/>
            <a:ext cx="697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B</a:t>
            </a:r>
            <a:r>
              <a:rPr lang="en-US" dirty="0"/>
              <a:t> byte. To store an Integer number, it takes </a:t>
            </a:r>
            <a:r>
              <a:rPr lang="en-US" b="1" dirty="0"/>
              <a:t>L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assuming the array starts at 1’st index.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7ABE7-7828-22E8-409C-3C7F3D161D75}"/>
              </a:ext>
            </a:extLst>
          </p:cNvPr>
          <p:cNvSpPr txBox="1"/>
          <p:nvPr/>
        </p:nvSpPr>
        <p:spPr>
          <a:xfrm>
            <a:off x="5017046" y="2878845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B + (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– 1) * L </a:t>
            </a:r>
          </a:p>
        </p:txBody>
      </p:sp>
    </p:spTree>
    <p:extLst>
      <p:ext uri="{BB962C8B-B14F-4D97-AF65-F5344CB8AC3E}">
        <p14:creationId xmlns:p14="http://schemas.microsoft.com/office/powerpoint/2010/main" val="3598302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3B43A4-37E3-2AA0-55A5-FF48CA594487}"/>
              </a:ext>
            </a:extLst>
          </p:cNvPr>
          <p:cNvSpPr txBox="1"/>
          <p:nvPr/>
        </p:nvSpPr>
        <p:spPr>
          <a:xfrm>
            <a:off x="2133599" y="1327355"/>
            <a:ext cx="6971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B</a:t>
            </a:r>
            <a:r>
              <a:rPr lang="en-US" dirty="0"/>
              <a:t> byte. To store an Integer number, it takes </a:t>
            </a:r>
            <a:r>
              <a:rPr lang="en-US" b="1" dirty="0"/>
              <a:t>L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assuming the array starts at </a:t>
            </a:r>
            <a:r>
              <a:rPr lang="en-US" b="1" dirty="0" err="1"/>
              <a:t>lb</a:t>
            </a:r>
            <a:r>
              <a:rPr lang="en-US" b="1" dirty="0"/>
              <a:t> index. </a:t>
            </a:r>
          </a:p>
          <a:p>
            <a:endParaRPr lang="en-US" b="1" dirty="0"/>
          </a:p>
          <a:p>
            <a:r>
              <a:rPr lang="en-US" b="1" dirty="0"/>
              <a:t>For example: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lb</a:t>
            </a:r>
            <a:r>
              <a:rPr lang="en-US" b="1" dirty="0"/>
              <a:t>, …, </a:t>
            </a:r>
            <a:r>
              <a:rPr lang="en-US" b="1" dirty="0" err="1"/>
              <a:t>ub</a:t>
            </a:r>
            <a:r>
              <a:rPr lang="en-US" b="1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2236514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A29F-0375-47D0-688D-2F12166E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A364EC-6508-E705-B06D-B646D2C36E77}"/>
              </a:ext>
            </a:extLst>
          </p:cNvPr>
          <p:cNvSpPr txBox="1"/>
          <p:nvPr/>
        </p:nvSpPr>
        <p:spPr>
          <a:xfrm>
            <a:off x="2133599" y="1327355"/>
            <a:ext cx="6971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base address of an 1D </a:t>
            </a:r>
            <a:r>
              <a:rPr lang="en-US" b="1" dirty="0"/>
              <a:t>int array </a:t>
            </a:r>
            <a:r>
              <a:rPr lang="en-US" b="1" dirty="0" err="1"/>
              <a:t>Arr</a:t>
            </a:r>
            <a:r>
              <a:rPr lang="en-US" b="1" dirty="0"/>
              <a:t> </a:t>
            </a:r>
            <a:r>
              <a:rPr lang="en-US" dirty="0"/>
              <a:t>starts at </a:t>
            </a:r>
            <a:r>
              <a:rPr lang="en-US" b="1" dirty="0"/>
              <a:t>B</a:t>
            </a:r>
            <a:r>
              <a:rPr lang="en-US" dirty="0"/>
              <a:t> byte. To store an Integer number, it takes </a:t>
            </a:r>
            <a:r>
              <a:rPr lang="en-US" b="1" dirty="0"/>
              <a:t>L</a:t>
            </a:r>
            <a:r>
              <a:rPr lang="en-US" dirty="0"/>
              <a:t> bytes. </a:t>
            </a:r>
            <a:r>
              <a:rPr lang="en-US" b="1" dirty="0"/>
              <a:t>Find the memory address of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 assuming the array starts at </a:t>
            </a:r>
            <a:r>
              <a:rPr lang="en-US" b="1" dirty="0" err="1"/>
              <a:t>lb</a:t>
            </a:r>
            <a:r>
              <a:rPr lang="en-US" b="1" dirty="0"/>
              <a:t> index. </a:t>
            </a:r>
          </a:p>
          <a:p>
            <a:endParaRPr lang="en-US" b="1" dirty="0"/>
          </a:p>
          <a:p>
            <a:r>
              <a:rPr lang="en-US" b="1" dirty="0"/>
              <a:t>For example: </a:t>
            </a:r>
            <a:r>
              <a:rPr lang="en-US" b="1" dirty="0" err="1"/>
              <a:t>Arr</a:t>
            </a:r>
            <a:r>
              <a:rPr lang="en-US" b="1" dirty="0"/>
              <a:t>[</a:t>
            </a:r>
            <a:r>
              <a:rPr lang="en-US" b="1" dirty="0" err="1"/>
              <a:t>lb</a:t>
            </a:r>
            <a:r>
              <a:rPr lang="en-US" b="1" dirty="0"/>
              <a:t>, …, </a:t>
            </a:r>
            <a:r>
              <a:rPr lang="en-US" b="1" dirty="0" err="1"/>
              <a:t>ub</a:t>
            </a:r>
            <a:r>
              <a:rPr lang="en-US" b="1" dirty="0"/>
              <a:t>]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3B408-3852-F557-B003-46EB734C0BE8}"/>
              </a:ext>
            </a:extLst>
          </p:cNvPr>
          <p:cNvSpPr txBox="1"/>
          <p:nvPr/>
        </p:nvSpPr>
        <p:spPr>
          <a:xfrm>
            <a:off x="5017046" y="2878845"/>
            <a:ext cx="1983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B + (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– </a:t>
            </a:r>
            <a:r>
              <a:rPr lang="en-US" sz="2400" dirty="0" err="1">
                <a:solidFill>
                  <a:srgbClr val="FF0000"/>
                </a:solidFill>
              </a:rPr>
              <a:t>lb</a:t>
            </a:r>
            <a:r>
              <a:rPr lang="en-US" sz="2400" dirty="0">
                <a:solidFill>
                  <a:srgbClr val="FF0000"/>
                </a:solidFill>
              </a:rPr>
              <a:t>) * L </a:t>
            </a:r>
          </a:p>
        </p:txBody>
      </p:sp>
    </p:spTree>
    <p:extLst>
      <p:ext uri="{BB962C8B-B14F-4D97-AF65-F5344CB8AC3E}">
        <p14:creationId xmlns:p14="http://schemas.microsoft.com/office/powerpoint/2010/main" val="358780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A360-58D6-0F8C-8565-F932A508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Array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23440-0A9C-34F2-756D-177577355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Row Major Mapping</a:t>
            </a:r>
          </a:p>
          <a:p>
            <a:r>
              <a:rPr lang="en-US" dirty="0"/>
              <a:t>Column Major Mapping</a:t>
            </a:r>
          </a:p>
        </p:txBody>
      </p:sp>
    </p:spTree>
    <p:extLst>
      <p:ext uri="{BB962C8B-B14F-4D97-AF65-F5344CB8AC3E}">
        <p14:creationId xmlns:p14="http://schemas.microsoft.com/office/powerpoint/2010/main" val="4186787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BB7A8C-E955-CDFE-F6D2-7447821E2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147572"/>
              </p:ext>
            </p:extLst>
          </p:nvPr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FAB0389-EBDB-0DE4-AEA7-17810B12F1D3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C58D32-1C50-527A-DC88-5D2E765BE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664184"/>
              </p:ext>
            </p:extLst>
          </p:nvPr>
        </p:nvGraphicFramePr>
        <p:xfrm>
          <a:off x="5109497" y="3243580"/>
          <a:ext cx="68661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83">
                  <a:extLst>
                    <a:ext uri="{9D8B030D-6E8A-4147-A177-3AD203B41FA5}">
                      <a16:colId xmlns:a16="http://schemas.microsoft.com/office/drawing/2014/main" val="662949037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891136051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2177669446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277310649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842917522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1241088870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2240774243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375975236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611687699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445576227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2411068767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4151734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5688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6D10679-FDC1-C50B-B0FC-834266E8B7B7}"/>
              </a:ext>
            </a:extLst>
          </p:cNvPr>
          <p:cNvSpPr txBox="1"/>
          <p:nvPr/>
        </p:nvSpPr>
        <p:spPr>
          <a:xfrm>
            <a:off x="1393482" y="5847425"/>
            <a:ext cx="250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array representation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55C12-4679-3F68-A483-4ADB15DBB21F}"/>
              </a:ext>
            </a:extLst>
          </p:cNvPr>
          <p:cNvSpPr txBox="1"/>
          <p:nvPr/>
        </p:nvSpPr>
        <p:spPr>
          <a:xfrm>
            <a:off x="7160102" y="4446329"/>
            <a:ext cx="32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array mapping to 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83989-95A0-4736-0DEA-4FF7A6FD4B8F}"/>
              </a:ext>
            </a:extLst>
          </p:cNvPr>
          <p:cNvSpPr txBox="1"/>
          <p:nvPr/>
        </p:nvSpPr>
        <p:spPr>
          <a:xfrm>
            <a:off x="5109497" y="2872740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[0][0]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63631-7915-BC95-4664-96039F94A44C}"/>
              </a:ext>
            </a:extLst>
          </p:cNvPr>
          <p:cNvSpPr txBox="1"/>
          <p:nvPr/>
        </p:nvSpPr>
        <p:spPr>
          <a:xfrm>
            <a:off x="5640441" y="2861200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[0][1]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B6D7A-1363-77F6-8571-94745627FD0F}"/>
              </a:ext>
            </a:extLst>
          </p:cNvPr>
          <p:cNvSpPr txBox="1"/>
          <p:nvPr/>
        </p:nvSpPr>
        <p:spPr>
          <a:xfrm>
            <a:off x="6204155" y="2861199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[0][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1382B2-F430-4ABE-EB03-24AE91529E38}"/>
              </a:ext>
            </a:extLst>
          </p:cNvPr>
          <p:cNvSpPr txBox="1"/>
          <p:nvPr/>
        </p:nvSpPr>
        <p:spPr>
          <a:xfrm>
            <a:off x="6735099" y="2859491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1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0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6766D9-6DA0-BC76-B415-610CE57BDEBE}"/>
              </a:ext>
            </a:extLst>
          </p:cNvPr>
          <p:cNvSpPr txBox="1"/>
          <p:nvPr/>
        </p:nvSpPr>
        <p:spPr>
          <a:xfrm>
            <a:off x="7325039" y="2857783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1</a:t>
            </a:r>
            <a:r>
              <a:rPr lang="en-US" sz="1400" b="1" dirty="0">
                <a:solidFill>
                  <a:schemeClr val="tx1"/>
                </a:solidFill>
              </a:rPr>
              <a:t>][1]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8823D5-85E0-86FC-32A5-546040E8F13D}"/>
              </a:ext>
            </a:extLst>
          </p:cNvPr>
          <p:cNvSpPr txBox="1"/>
          <p:nvPr/>
        </p:nvSpPr>
        <p:spPr>
          <a:xfrm>
            <a:off x="7964142" y="2854368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1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2AA944-8FA5-8CC6-84CA-1CD80805B629}"/>
              </a:ext>
            </a:extLst>
          </p:cNvPr>
          <p:cNvSpPr txBox="1"/>
          <p:nvPr/>
        </p:nvSpPr>
        <p:spPr>
          <a:xfrm>
            <a:off x="8495086" y="2878766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0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C76393-B2FA-1CCC-300D-404D393C3858}"/>
              </a:ext>
            </a:extLst>
          </p:cNvPr>
          <p:cNvSpPr txBox="1"/>
          <p:nvPr/>
        </p:nvSpPr>
        <p:spPr>
          <a:xfrm>
            <a:off x="9026030" y="2884412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][1]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87229-A7F3-6B00-AB3B-777DFDA1FD24}"/>
              </a:ext>
            </a:extLst>
          </p:cNvPr>
          <p:cNvSpPr txBox="1"/>
          <p:nvPr/>
        </p:nvSpPr>
        <p:spPr>
          <a:xfrm>
            <a:off x="9615970" y="2892524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D14BBC-A14F-7ECF-56AA-0AD286CCECD2}"/>
              </a:ext>
            </a:extLst>
          </p:cNvPr>
          <p:cNvSpPr txBox="1"/>
          <p:nvPr/>
        </p:nvSpPr>
        <p:spPr>
          <a:xfrm>
            <a:off x="10179684" y="2871152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[3][0]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B12A8-6D79-6BDA-E925-6157F970EF70}"/>
              </a:ext>
            </a:extLst>
          </p:cNvPr>
          <p:cNvSpPr txBox="1"/>
          <p:nvPr/>
        </p:nvSpPr>
        <p:spPr>
          <a:xfrm>
            <a:off x="10799146" y="2857783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[3][1]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F521B6-AE5C-FB7B-DA17-74B7BFCD8B4E}"/>
              </a:ext>
            </a:extLst>
          </p:cNvPr>
          <p:cNvSpPr txBox="1"/>
          <p:nvPr/>
        </p:nvSpPr>
        <p:spPr>
          <a:xfrm>
            <a:off x="11349731" y="2848854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[3][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D29F0D-BCCF-2B38-206D-A116F32C6538}"/>
              </a:ext>
            </a:extLst>
          </p:cNvPr>
          <p:cNvSpPr txBox="1"/>
          <p:nvPr/>
        </p:nvSpPr>
        <p:spPr>
          <a:xfrm>
            <a:off x="5109497" y="3657699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200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40E424-D587-DDD2-02F7-A9412288C4A9}"/>
              </a:ext>
            </a:extLst>
          </p:cNvPr>
          <p:cNvSpPr txBox="1"/>
          <p:nvPr/>
        </p:nvSpPr>
        <p:spPr>
          <a:xfrm>
            <a:off x="5666660" y="3677483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204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DF76B3-CD3E-2248-F801-1C414241139E}"/>
              </a:ext>
            </a:extLst>
          </p:cNvPr>
          <p:cNvSpPr txBox="1"/>
          <p:nvPr/>
        </p:nvSpPr>
        <p:spPr>
          <a:xfrm>
            <a:off x="6256593" y="3661873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208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5B9031-C562-BD7D-E1B4-4DAD0998810D}"/>
              </a:ext>
            </a:extLst>
          </p:cNvPr>
          <p:cNvSpPr txBox="1"/>
          <p:nvPr/>
        </p:nvSpPr>
        <p:spPr>
          <a:xfrm>
            <a:off x="6859652" y="3669878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212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EBEF4-7206-21B0-70D4-A08731C6534A}"/>
              </a:ext>
            </a:extLst>
          </p:cNvPr>
          <p:cNvSpPr txBox="1"/>
          <p:nvPr/>
        </p:nvSpPr>
        <p:spPr>
          <a:xfrm>
            <a:off x="7400418" y="363225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216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1CBEA6-D538-D096-E7A0-B75BAE133ACF}"/>
              </a:ext>
            </a:extLst>
          </p:cNvPr>
          <p:cNvSpPr txBox="1"/>
          <p:nvPr/>
        </p:nvSpPr>
        <p:spPr>
          <a:xfrm>
            <a:off x="8029683" y="363225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220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17D7A9-FC9C-E404-0D76-AFD060B54836}"/>
              </a:ext>
            </a:extLst>
          </p:cNvPr>
          <p:cNvSpPr txBox="1"/>
          <p:nvPr/>
        </p:nvSpPr>
        <p:spPr>
          <a:xfrm>
            <a:off x="8590131" y="3675859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224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2B3FD8-788D-8A2E-3D2A-4EB3B6A6B22A}"/>
              </a:ext>
            </a:extLst>
          </p:cNvPr>
          <p:cNvSpPr txBox="1"/>
          <p:nvPr/>
        </p:nvSpPr>
        <p:spPr>
          <a:xfrm>
            <a:off x="9150579" y="3682479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228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7D4A0B-DA86-4677-7974-B419FF5E68EA}"/>
              </a:ext>
            </a:extLst>
          </p:cNvPr>
          <p:cNvSpPr txBox="1"/>
          <p:nvPr/>
        </p:nvSpPr>
        <p:spPr>
          <a:xfrm>
            <a:off x="9714324" y="366997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232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E4A23-C951-D933-96B1-DE27B4DC3679}"/>
              </a:ext>
            </a:extLst>
          </p:cNvPr>
          <p:cNvSpPr txBox="1"/>
          <p:nvPr/>
        </p:nvSpPr>
        <p:spPr>
          <a:xfrm>
            <a:off x="10304222" y="363225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236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B5D7B3-C97C-A7F6-BFB7-B016301C24FE}"/>
              </a:ext>
            </a:extLst>
          </p:cNvPr>
          <p:cNvSpPr txBox="1"/>
          <p:nvPr/>
        </p:nvSpPr>
        <p:spPr>
          <a:xfrm>
            <a:off x="10825364" y="3640382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240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2014B8-6852-D541-EA7E-C84EE6591DA9}"/>
              </a:ext>
            </a:extLst>
          </p:cNvPr>
          <p:cNvSpPr txBox="1"/>
          <p:nvPr/>
        </p:nvSpPr>
        <p:spPr>
          <a:xfrm>
            <a:off x="11425118" y="3650735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244</a:t>
            </a:r>
            <a:endParaRPr lang="en-US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8244FF80-416A-102B-7C39-0CC4EE918E26}"/>
              </a:ext>
            </a:extLst>
          </p:cNvPr>
          <p:cNvSpPr/>
          <p:nvPr/>
        </p:nvSpPr>
        <p:spPr>
          <a:xfrm rot="5400000">
            <a:off x="5741370" y="1831115"/>
            <a:ext cx="307777" cy="1404372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12C5F066-1EF0-456E-2381-13D08E9D9C55}"/>
              </a:ext>
            </a:extLst>
          </p:cNvPr>
          <p:cNvSpPr/>
          <p:nvPr/>
        </p:nvSpPr>
        <p:spPr>
          <a:xfrm rot="5400000">
            <a:off x="7439088" y="1815495"/>
            <a:ext cx="307777" cy="1404372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DC40E6E4-FA94-1AA0-166A-61F5B03ACC8E}"/>
              </a:ext>
            </a:extLst>
          </p:cNvPr>
          <p:cNvSpPr/>
          <p:nvPr/>
        </p:nvSpPr>
        <p:spPr>
          <a:xfrm rot="5400000">
            <a:off x="9081084" y="1836283"/>
            <a:ext cx="307777" cy="1404372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3790B2BA-D69A-36D4-0705-93B2AA142F43}"/>
              </a:ext>
            </a:extLst>
          </p:cNvPr>
          <p:cNvSpPr/>
          <p:nvPr/>
        </p:nvSpPr>
        <p:spPr>
          <a:xfrm rot="5400000">
            <a:off x="10854174" y="1806453"/>
            <a:ext cx="307777" cy="1404372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7A1629-C0A8-BF0E-48E9-F79FC2790D92}"/>
              </a:ext>
            </a:extLst>
          </p:cNvPr>
          <p:cNvSpPr txBox="1"/>
          <p:nvPr/>
        </p:nvSpPr>
        <p:spPr>
          <a:xfrm>
            <a:off x="5517261" y="1948641"/>
            <a:ext cx="76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F0B387-280F-2738-9F5F-007BC61BEC89}"/>
              </a:ext>
            </a:extLst>
          </p:cNvPr>
          <p:cNvSpPr txBox="1"/>
          <p:nvPr/>
        </p:nvSpPr>
        <p:spPr>
          <a:xfrm>
            <a:off x="7160102" y="1900500"/>
            <a:ext cx="76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1E44A8-AE8B-E59E-53FE-A3F0DF8A795B}"/>
              </a:ext>
            </a:extLst>
          </p:cNvPr>
          <p:cNvSpPr txBox="1"/>
          <p:nvPr/>
        </p:nvSpPr>
        <p:spPr>
          <a:xfrm>
            <a:off x="8770122" y="1947189"/>
            <a:ext cx="76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E10B0F-35A8-26A3-8698-72420D6E30CA}"/>
              </a:ext>
            </a:extLst>
          </p:cNvPr>
          <p:cNvSpPr txBox="1"/>
          <p:nvPr/>
        </p:nvSpPr>
        <p:spPr>
          <a:xfrm>
            <a:off x="10487216" y="1879232"/>
            <a:ext cx="76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3</a:t>
            </a:r>
          </a:p>
        </p:txBody>
      </p:sp>
    </p:spTree>
    <p:extLst>
      <p:ext uri="{BB962C8B-B14F-4D97-AF65-F5344CB8AC3E}">
        <p14:creationId xmlns:p14="http://schemas.microsoft.com/office/powerpoint/2010/main" val="346071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A1C3F6-1682-1462-5099-099105508459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97E1B3-9906-A27B-C701-201993456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304403"/>
              </p:ext>
            </p:extLst>
          </p:nvPr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9680E7-CAAD-8A23-D63B-FEC7C5BD9B2F}"/>
              </a:ext>
            </a:extLst>
          </p:cNvPr>
          <p:cNvSpPr txBox="1"/>
          <p:nvPr/>
        </p:nvSpPr>
        <p:spPr>
          <a:xfrm>
            <a:off x="6919536" y="1494504"/>
            <a:ext cx="53497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b="1" dirty="0" err="1">
                <a:solidFill>
                  <a:srgbClr val="FF0000"/>
                </a:solidFill>
              </a:rPr>
              <a:t>Arr</a:t>
            </a:r>
            <a:r>
              <a:rPr lang="en-US" b="1" dirty="0">
                <a:solidFill>
                  <a:srgbClr val="FF0000"/>
                </a:solidFill>
              </a:rPr>
              <a:t>[2][1].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1793550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327F4-A375-FC14-E483-D127DCFC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60DB3F-293A-5010-6D0B-CFBCD733143E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2CC14E-6726-6328-56F0-45D0F60EE83F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411973-CF3D-39AF-AD0B-23FD4630440D}"/>
              </a:ext>
            </a:extLst>
          </p:cNvPr>
          <p:cNvSpPr txBox="1"/>
          <p:nvPr/>
        </p:nvSpPr>
        <p:spPr>
          <a:xfrm>
            <a:off x="6919536" y="1494504"/>
            <a:ext cx="53497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b="1" dirty="0" err="1">
                <a:solidFill>
                  <a:srgbClr val="FF0000"/>
                </a:solidFill>
              </a:rPr>
              <a:t>Arr</a:t>
            </a:r>
            <a:r>
              <a:rPr lang="en-US" b="1" dirty="0">
                <a:solidFill>
                  <a:srgbClr val="FF0000"/>
                </a:solidFill>
              </a:rPr>
              <a:t>[2][1].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354D3-2F95-A8EF-00F9-8BCBAAE491C3}"/>
              </a:ext>
            </a:extLst>
          </p:cNvPr>
          <p:cNvSpPr txBox="1"/>
          <p:nvPr/>
        </p:nvSpPr>
        <p:spPr>
          <a:xfrm>
            <a:off x="7492181" y="3559278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[2 * 3 + 1] * 4 = 228</a:t>
            </a:r>
          </a:p>
        </p:txBody>
      </p:sp>
    </p:spTree>
    <p:extLst>
      <p:ext uri="{BB962C8B-B14F-4D97-AF65-F5344CB8AC3E}">
        <p14:creationId xmlns:p14="http://schemas.microsoft.com/office/powerpoint/2010/main" val="3070741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2295DA-37AC-C129-3AD9-43DD4E10D131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03C7A6-4D86-F85F-4CAC-7DBB63580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853640"/>
              </p:ext>
            </p:extLst>
          </p:nvPr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6A825E-AFD5-8DFB-04E8-18F17191EE4A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[1][2].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1562172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CE24-04B2-B7B0-5DF5-28F074CE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368FF-4F43-5DA4-0259-DAF1A9884A86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F74737-8AAE-FC32-C90D-8C82C8E8E25D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8E3B52-69B0-8489-C1E4-28D006E7D81E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[1][2].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F30AA7-2D0F-DF34-A477-87235E58A945}"/>
              </a:ext>
            </a:extLst>
          </p:cNvPr>
          <p:cNvSpPr txBox="1"/>
          <p:nvPr/>
        </p:nvSpPr>
        <p:spPr>
          <a:xfrm>
            <a:off x="7492181" y="3559278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[1 * 3 + 2] * 4 = 220</a:t>
            </a:r>
          </a:p>
        </p:txBody>
      </p:sp>
    </p:spTree>
    <p:extLst>
      <p:ext uri="{BB962C8B-B14F-4D97-AF65-F5344CB8AC3E}">
        <p14:creationId xmlns:p14="http://schemas.microsoft.com/office/powerpoint/2010/main" val="3071277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2F48-AC1B-B03A-60ED-5142A1C6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17196C-35B0-8EE8-858F-DB5317273539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984B7C-D905-27F9-C3EF-6F6422C3F929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C4D835C-684E-9915-2B0B-B11030ED306B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[3][2].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4011355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F670-A2F7-6EAB-B8ED-652F320D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72FD1E-D41F-4FC8-0DEF-2FC5EFC55104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3EB02B-400D-4143-4B9B-F546EA481A43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00169A-61C2-2A5F-0E14-B8E399E49BB3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[3][2].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CB1B9-F66A-6AED-3A7A-E55D6B01AFA5}"/>
              </a:ext>
            </a:extLst>
          </p:cNvPr>
          <p:cNvSpPr txBox="1"/>
          <p:nvPr/>
        </p:nvSpPr>
        <p:spPr>
          <a:xfrm>
            <a:off x="7492181" y="3559278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[3 * 3 + 2] * 4 = 244</a:t>
            </a:r>
          </a:p>
        </p:txBody>
      </p:sp>
    </p:spTree>
    <p:extLst>
      <p:ext uri="{BB962C8B-B14F-4D97-AF65-F5344CB8AC3E}">
        <p14:creationId xmlns:p14="http://schemas.microsoft.com/office/powerpoint/2010/main" val="511549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BE21-99FA-6216-3FA8-453557A0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7C442-B7AC-927F-07B2-9FF4E9112EB0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5917A4-DB1D-FCE3-5170-39A37D0D9410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0BEEC5-0D6A-0E7A-1925-040FAD141946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[0][2].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2620410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3A8A-2F21-ED37-C9CF-30FB03B0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7330BC-6DEE-4064-2978-8F539DF144C3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5752D2-7BD0-E2E5-0E5D-7032EBEDC39A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537071-343D-524E-6F7F-25956DD622AE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[0][2].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E674AF-8870-641E-731A-CA53F114F8BB}"/>
              </a:ext>
            </a:extLst>
          </p:cNvPr>
          <p:cNvSpPr txBox="1"/>
          <p:nvPr/>
        </p:nvSpPr>
        <p:spPr>
          <a:xfrm>
            <a:off x="7492181" y="3559278"/>
            <a:ext cx="339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[0 * 3 + 2] * 4 = 208</a:t>
            </a:r>
          </a:p>
        </p:txBody>
      </p:sp>
    </p:spTree>
    <p:extLst>
      <p:ext uri="{BB962C8B-B14F-4D97-AF65-F5344CB8AC3E}">
        <p14:creationId xmlns:p14="http://schemas.microsoft.com/office/powerpoint/2010/main" val="3608995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B28D-EA57-73D5-127E-978B1D4E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2E2F46-9F19-BE3D-0CFF-64E79CCD8B39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7A10EB-D6F6-A043-3AA8-43658FFFE625}"/>
              </a:ext>
            </a:extLst>
          </p:cNvPr>
          <p:cNvGraphicFramePr>
            <a:graphicFrameLocks noGrp="1"/>
          </p:cNvGraphicFramePr>
          <p:nvPr/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20A125-CB25-8D18-2F2B-3014559F5C3A}"/>
              </a:ext>
            </a:extLst>
          </p:cNvPr>
          <p:cNvSpPr txBox="1"/>
          <p:nvPr/>
        </p:nvSpPr>
        <p:spPr>
          <a:xfrm>
            <a:off x="6919536" y="1494504"/>
            <a:ext cx="53497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[2][0]. </a:t>
            </a:r>
            <a:r>
              <a:rPr lang="en-US" b="1" dirty="0"/>
              <a:t>Assuming both </a:t>
            </a:r>
          </a:p>
          <a:p>
            <a:r>
              <a:rPr lang="en-US" b="1" dirty="0"/>
              <a:t>index start from 0’th index. Base address of </a:t>
            </a:r>
            <a:r>
              <a:rPr lang="en-US" b="1" dirty="0" err="1"/>
              <a:t>Arr</a:t>
            </a:r>
            <a:r>
              <a:rPr lang="en-US" b="1" dirty="0"/>
              <a:t> is 200.</a:t>
            </a:r>
          </a:p>
          <a:p>
            <a:r>
              <a:rPr lang="en-US" b="1" dirty="0"/>
              <a:t>An integer takes 4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4091433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8F76-99FF-175E-AC74-FBBABA105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536F8-73D9-5196-C1EC-56908D44F310}"/>
              </a:ext>
            </a:extLst>
          </p:cNvPr>
          <p:cNvSpPr txBox="1"/>
          <p:nvPr/>
        </p:nvSpPr>
        <p:spPr>
          <a:xfrm>
            <a:off x="816078" y="523255"/>
            <a:ext cx="50931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  <a:p>
            <a:endParaRPr lang="en-US" b="1" dirty="0"/>
          </a:p>
          <a:p>
            <a:r>
              <a:rPr lang="en-US" sz="2400" b="1" dirty="0" err="1"/>
              <a:t>Arr</a:t>
            </a:r>
            <a:r>
              <a:rPr lang="en-US" sz="2400" b="1" dirty="0"/>
              <a:t>[3…6,  5…7]</a:t>
            </a:r>
          </a:p>
        </p:txBody>
      </p:sp>
    </p:spTree>
    <p:extLst>
      <p:ext uri="{BB962C8B-B14F-4D97-AF65-F5344CB8AC3E}">
        <p14:creationId xmlns:p14="http://schemas.microsoft.com/office/powerpoint/2010/main" val="531122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0199E-9DE6-FEF9-5D79-A5D213F2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E28592-A200-2102-7FC2-616C1B6F53CA}"/>
              </a:ext>
            </a:extLst>
          </p:cNvPr>
          <p:cNvSpPr txBox="1"/>
          <p:nvPr/>
        </p:nvSpPr>
        <p:spPr>
          <a:xfrm>
            <a:off x="816078" y="523255"/>
            <a:ext cx="50931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  <a:p>
            <a:endParaRPr lang="en-US" b="1" dirty="0"/>
          </a:p>
          <a:p>
            <a:r>
              <a:rPr lang="en-US" sz="2400" b="1" dirty="0" err="1"/>
              <a:t>Arr</a:t>
            </a:r>
            <a:r>
              <a:rPr lang="en-US" sz="2400" b="1" dirty="0"/>
              <a:t>[3…6,  5…7]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7F2636-EFC3-D0E1-CA48-5DC42BF83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365967"/>
              </p:ext>
            </p:extLst>
          </p:nvPr>
        </p:nvGraphicFramePr>
        <p:xfrm>
          <a:off x="950449" y="1694559"/>
          <a:ext cx="312010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203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950240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216663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8EC331-3846-50A1-7921-8DEB67E36F4C}"/>
              </a:ext>
            </a:extLst>
          </p:cNvPr>
          <p:cNvSpPr txBox="1"/>
          <p:nvPr/>
        </p:nvSpPr>
        <p:spPr>
          <a:xfrm>
            <a:off x="6919536" y="1494504"/>
            <a:ext cx="3142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[6][7].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7727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DF2F1-74F8-BCAA-FA0D-8E548F68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7999BA-F452-E515-5C71-B72CF8635A93}"/>
              </a:ext>
            </a:extLst>
          </p:cNvPr>
          <p:cNvSpPr txBox="1"/>
          <p:nvPr/>
        </p:nvSpPr>
        <p:spPr>
          <a:xfrm>
            <a:off x="6919536" y="3429000"/>
            <a:ext cx="42755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 (6-3)*(7-5+1) + (7-5) ] * 4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= 200 + 44 = 244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870B34-F8CF-B345-92D1-6D653FB8B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73592"/>
              </p:ext>
            </p:extLst>
          </p:nvPr>
        </p:nvGraphicFramePr>
        <p:xfrm>
          <a:off x="920952" y="2067545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52051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347020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09B055-BC4B-0EF2-E964-4F0911278685}"/>
              </a:ext>
            </a:extLst>
          </p:cNvPr>
          <p:cNvSpPr txBox="1"/>
          <p:nvPr/>
        </p:nvSpPr>
        <p:spPr>
          <a:xfrm>
            <a:off x="816078" y="523255"/>
            <a:ext cx="50931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 Major Mapping</a:t>
            </a:r>
          </a:p>
          <a:p>
            <a:endParaRPr lang="en-US" b="1" dirty="0"/>
          </a:p>
          <a:p>
            <a:r>
              <a:rPr lang="en-US" sz="2400" b="1" dirty="0" err="1"/>
              <a:t>Arr</a:t>
            </a:r>
            <a:r>
              <a:rPr lang="en-US" sz="2400" b="1" dirty="0"/>
              <a:t>[3…6,  5…7]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074A7-E53C-6BF4-9363-E6E58F2A8EEB}"/>
              </a:ext>
            </a:extLst>
          </p:cNvPr>
          <p:cNvSpPr txBox="1"/>
          <p:nvPr/>
        </p:nvSpPr>
        <p:spPr>
          <a:xfrm>
            <a:off x="6919536" y="1494504"/>
            <a:ext cx="3142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[6][7].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3622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311058-BB63-A93F-16DE-E9E919341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128" y="837137"/>
            <a:ext cx="7590840" cy="45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90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3AD058-72BC-D329-60FA-C45FB988C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728420"/>
              </p:ext>
            </p:extLst>
          </p:nvPr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E0D4BD-AA8C-40AC-6DB3-6B83537EABED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Column Major Mapping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B925C0-960C-D709-A5C5-A4035C322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421280"/>
              </p:ext>
            </p:extLst>
          </p:nvPr>
        </p:nvGraphicFramePr>
        <p:xfrm>
          <a:off x="5109497" y="3243580"/>
          <a:ext cx="686619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183">
                  <a:extLst>
                    <a:ext uri="{9D8B030D-6E8A-4147-A177-3AD203B41FA5}">
                      <a16:colId xmlns:a16="http://schemas.microsoft.com/office/drawing/2014/main" val="662949037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891136051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2177669446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277310649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842917522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1241088870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2240774243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375975236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611687699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3445576227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2411068767"/>
                    </a:ext>
                  </a:extLst>
                </a:gridCol>
                <a:gridCol w="572183">
                  <a:extLst>
                    <a:ext uri="{9D8B030D-6E8A-4147-A177-3AD203B41FA5}">
                      <a16:colId xmlns:a16="http://schemas.microsoft.com/office/drawing/2014/main" val="4151734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5688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01C0238-46E9-93CC-04FB-4A26AA1BC0A7}"/>
              </a:ext>
            </a:extLst>
          </p:cNvPr>
          <p:cNvSpPr txBox="1"/>
          <p:nvPr/>
        </p:nvSpPr>
        <p:spPr>
          <a:xfrm>
            <a:off x="1393482" y="5847425"/>
            <a:ext cx="250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array representation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D2D2A-B4F4-F065-33DE-EB697707839D}"/>
              </a:ext>
            </a:extLst>
          </p:cNvPr>
          <p:cNvSpPr txBox="1"/>
          <p:nvPr/>
        </p:nvSpPr>
        <p:spPr>
          <a:xfrm>
            <a:off x="7160102" y="4446329"/>
            <a:ext cx="32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array mapping to memory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20BE3-357B-DFD9-408A-C8D81FE33F24}"/>
              </a:ext>
            </a:extLst>
          </p:cNvPr>
          <p:cNvSpPr txBox="1"/>
          <p:nvPr/>
        </p:nvSpPr>
        <p:spPr>
          <a:xfrm>
            <a:off x="5109497" y="2872740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[0][0]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B43C2-CC20-1275-31C3-FBB8F063577E}"/>
              </a:ext>
            </a:extLst>
          </p:cNvPr>
          <p:cNvSpPr txBox="1"/>
          <p:nvPr/>
        </p:nvSpPr>
        <p:spPr>
          <a:xfrm>
            <a:off x="5640441" y="2861200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[1][</a:t>
            </a:r>
            <a:r>
              <a:rPr lang="en-US" sz="1400" b="1" dirty="0"/>
              <a:t>0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FB778-49AC-1F60-C492-EFD5D7EBBF43}"/>
              </a:ext>
            </a:extLst>
          </p:cNvPr>
          <p:cNvSpPr txBox="1"/>
          <p:nvPr/>
        </p:nvSpPr>
        <p:spPr>
          <a:xfrm>
            <a:off x="6204155" y="2861199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[2][0]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E3FB8-E46D-4B55-665A-4A7210081CF1}"/>
              </a:ext>
            </a:extLst>
          </p:cNvPr>
          <p:cNvSpPr txBox="1"/>
          <p:nvPr/>
        </p:nvSpPr>
        <p:spPr>
          <a:xfrm>
            <a:off x="6735099" y="2859491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[3][</a:t>
            </a:r>
            <a:r>
              <a:rPr lang="en-US" sz="1400" b="1" dirty="0"/>
              <a:t>0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33048-588B-BC38-65D9-A38FB9DCE0BA}"/>
              </a:ext>
            </a:extLst>
          </p:cNvPr>
          <p:cNvSpPr txBox="1"/>
          <p:nvPr/>
        </p:nvSpPr>
        <p:spPr>
          <a:xfrm>
            <a:off x="7325039" y="2857783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[0][1]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0165E-13DE-D951-C0C2-B42B8BBA6E34}"/>
              </a:ext>
            </a:extLst>
          </p:cNvPr>
          <p:cNvSpPr txBox="1"/>
          <p:nvPr/>
        </p:nvSpPr>
        <p:spPr>
          <a:xfrm>
            <a:off x="7964142" y="2854368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1</a:t>
            </a:r>
            <a:r>
              <a:rPr lang="en-US" sz="1400" b="1" dirty="0">
                <a:solidFill>
                  <a:schemeClr val="tx1"/>
                </a:solidFill>
              </a:rPr>
              <a:t>][1]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1F7776-9747-086A-3E9E-7C66358B9DA9}"/>
              </a:ext>
            </a:extLst>
          </p:cNvPr>
          <p:cNvSpPr txBox="1"/>
          <p:nvPr/>
        </p:nvSpPr>
        <p:spPr>
          <a:xfrm>
            <a:off x="8495086" y="2878766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][1]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5CE9FB-B2DA-8598-3005-92080876F9AA}"/>
              </a:ext>
            </a:extLst>
          </p:cNvPr>
          <p:cNvSpPr txBox="1"/>
          <p:nvPr/>
        </p:nvSpPr>
        <p:spPr>
          <a:xfrm>
            <a:off x="9026030" y="2884412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[3][1]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45E60C-92C7-E655-80B1-EAF477D8B381}"/>
              </a:ext>
            </a:extLst>
          </p:cNvPr>
          <p:cNvSpPr txBox="1"/>
          <p:nvPr/>
        </p:nvSpPr>
        <p:spPr>
          <a:xfrm>
            <a:off x="9615970" y="2892524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0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3EB24E-5834-E0D4-D694-9DC32AB54348}"/>
              </a:ext>
            </a:extLst>
          </p:cNvPr>
          <p:cNvSpPr txBox="1"/>
          <p:nvPr/>
        </p:nvSpPr>
        <p:spPr>
          <a:xfrm>
            <a:off x="10179684" y="2871152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1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9D71C5-D51F-4A0C-450C-7F9A3A50114C}"/>
              </a:ext>
            </a:extLst>
          </p:cNvPr>
          <p:cNvSpPr txBox="1"/>
          <p:nvPr/>
        </p:nvSpPr>
        <p:spPr>
          <a:xfrm>
            <a:off x="10799146" y="2857783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EB895C-6D29-117D-CC10-6A19BF3045A6}"/>
              </a:ext>
            </a:extLst>
          </p:cNvPr>
          <p:cNvSpPr txBox="1"/>
          <p:nvPr/>
        </p:nvSpPr>
        <p:spPr>
          <a:xfrm>
            <a:off x="11349731" y="2848854"/>
            <a:ext cx="72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[3][</a:t>
            </a:r>
            <a:r>
              <a:rPr lang="en-US" sz="1400" b="1" dirty="0"/>
              <a:t>2</a:t>
            </a:r>
            <a:r>
              <a:rPr lang="en-US" sz="1400" b="1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B2054-6B2F-5E52-DF74-C3B7ACDCAED9}"/>
              </a:ext>
            </a:extLst>
          </p:cNvPr>
          <p:cNvSpPr txBox="1"/>
          <p:nvPr/>
        </p:nvSpPr>
        <p:spPr>
          <a:xfrm>
            <a:off x="5109497" y="3657699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200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443DF9-2B7A-FAE5-DED6-7AD3B4FEC71E}"/>
              </a:ext>
            </a:extLst>
          </p:cNvPr>
          <p:cNvSpPr txBox="1"/>
          <p:nvPr/>
        </p:nvSpPr>
        <p:spPr>
          <a:xfrm>
            <a:off x="5666660" y="3677483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204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3B3D1A-E0D2-7B08-76C5-FD5F4309A5A5}"/>
              </a:ext>
            </a:extLst>
          </p:cNvPr>
          <p:cNvSpPr txBox="1"/>
          <p:nvPr/>
        </p:nvSpPr>
        <p:spPr>
          <a:xfrm>
            <a:off x="6256593" y="3661873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208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3B7D17-A560-E79E-B2CF-07D97AF9306A}"/>
              </a:ext>
            </a:extLst>
          </p:cNvPr>
          <p:cNvSpPr txBox="1"/>
          <p:nvPr/>
        </p:nvSpPr>
        <p:spPr>
          <a:xfrm>
            <a:off x="6859652" y="3669878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212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89C15-0E82-733F-1662-04C26A6EC2A2}"/>
              </a:ext>
            </a:extLst>
          </p:cNvPr>
          <p:cNvSpPr txBox="1"/>
          <p:nvPr/>
        </p:nvSpPr>
        <p:spPr>
          <a:xfrm>
            <a:off x="7400418" y="363225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216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70ACA-4A30-C8F3-12F8-302635EE00F0}"/>
              </a:ext>
            </a:extLst>
          </p:cNvPr>
          <p:cNvSpPr txBox="1"/>
          <p:nvPr/>
        </p:nvSpPr>
        <p:spPr>
          <a:xfrm>
            <a:off x="8029683" y="363225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220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67EBB9-8B54-105C-B971-EA08B310558B}"/>
              </a:ext>
            </a:extLst>
          </p:cNvPr>
          <p:cNvSpPr txBox="1"/>
          <p:nvPr/>
        </p:nvSpPr>
        <p:spPr>
          <a:xfrm>
            <a:off x="8590131" y="3675859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224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27E8FA-BD53-D542-E20F-02C5DE458CF5}"/>
              </a:ext>
            </a:extLst>
          </p:cNvPr>
          <p:cNvSpPr txBox="1"/>
          <p:nvPr/>
        </p:nvSpPr>
        <p:spPr>
          <a:xfrm>
            <a:off x="9150579" y="3682479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228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07B567-7AE5-E2C3-1B43-A8818212C5D4}"/>
              </a:ext>
            </a:extLst>
          </p:cNvPr>
          <p:cNvSpPr txBox="1"/>
          <p:nvPr/>
        </p:nvSpPr>
        <p:spPr>
          <a:xfrm>
            <a:off x="9714324" y="366997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232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C5042C-9AF4-6968-3BA3-DEDEEAD521A3}"/>
              </a:ext>
            </a:extLst>
          </p:cNvPr>
          <p:cNvSpPr txBox="1"/>
          <p:nvPr/>
        </p:nvSpPr>
        <p:spPr>
          <a:xfrm>
            <a:off x="10304222" y="3632257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236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FFA5AA-01BB-C515-E441-19B25C0957FF}"/>
              </a:ext>
            </a:extLst>
          </p:cNvPr>
          <p:cNvSpPr txBox="1"/>
          <p:nvPr/>
        </p:nvSpPr>
        <p:spPr>
          <a:xfrm>
            <a:off x="10825364" y="3640382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240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482EEE-25CC-9E04-155F-DC2D4C1B697C}"/>
              </a:ext>
            </a:extLst>
          </p:cNvPr>
          <p:cNvSpPr txBox="1"/>
          <p:nvPr/>
        </p:nvSpPr>
        <p:spPr>
          <a:xfrm>
            <a:off x="11425118" y="3650735"/>
            <a:ext cx="66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244</a:t>
            </a:r>
            <a:endParaRPr lang="en-US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4C19ABF1-AF71-4F31-E412-D9042D4278A4}"/>
              </a:ext>
            </a:extLst>
          </p:cNvPr>
          <p:cNvSpPr/>
          <p:nvPr/>
        </p:nvSpPr>
        <p:spPr>
          <a:xfrm rot="5400000">
            <a:off x="6014234" y="1803340"/>
            <a:ext cx="307779" cy="1619059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3FD45552-2591-D6D1-F7B6-4CB726C426E0}"/>
              </a:ext>
            </a:extLst>
          </p:cNvPr>
          <p:cNvSpPr/>
          <p:nvPr/>
        </p:nvSpPr>
        <p:spPr>
          <a:xfrm rot="5400000">
            <a:off x="8328459" y="1828607"/>
            <a:ext cx="369334" cy="1619060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B2B74912-79FE-126E-F0B0-F8FA0ACE304E}"/>
              </a:ext>
            </a:extLst>
          </p:cNvPr>
          <p:cNvSpPr/>
          <p:nvPr/>
        </p:nvSpPr>
        <p:spPr>
          <a:xfrm rot="5400000">
            <a:off x="10603938" y="1744685"/>
            <a:ext cx="339522" cy="1814047"/>
          </a:xfrm>
          <a:prstGeom prst="leftBrac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7FCB27-0D00-0F03-D8A8-283AC7400B50}"/>
              </a:ext>
            </a:extLst>
          </p:cNvPr>
          <p:cNvSpPr txBox="1"/>
          <p:nvPr/>
        </p:nvSpPr>
        <p:spPr>
          <a:xfrm>
            <a:off x="5876147" y="204219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 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6B0444-FB5E-BDD5-E18B-A82F5C028E3E}"/>
              </a:ext>
            </a:extLst>
          </p:cNvPr>
          <p:cNvSpPr txBox="1"/>
          <p:nvPr/>
        </p:nvSpPr>
        <p:spPr>
          <a:xfrm>
            <a:off x="8124735" y="205844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3B3A95-3B0D-E02D-5228-D81469E1F56A}"/>
              </a:ext>
            </a:extLst>
          </p:cNvPr>
          <p:cNvSpPr txBox="1"/>
          <p:nvPr/>
        </p:nvSpPr>
        <p:spPr>
          <a:xfrm>
            <a:off x="10452850" y="205705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 2</a:t>
            </a:r>
          </a:p>
        </p:txBody>
      </p:sp>
    </p:spTree>
    <p:extLst>
      <p:ext uri="{BB962C8B-B14F-4D97-AF65-F5344CB8AC3E}">
        <p14:creationId xmlns:p14="http://schemas.microsoft.com/office/powerpoint/2010/main" val="540894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B3096B-6763-FABE-1F07-AB697858A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0803"/>
              </p:ext>
            </p:extLst>
          </p:nvPr>
        </p:nvGraphicFramePr>
        <p:xfrm>
          <a:off x="920952" y="1295400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1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60543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443728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[0][2]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[1][2]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[2][2]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[3][0]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[3][1]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[3][2]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770847-5489-CF68-BEFC-FA3CC1B12250}"/>
              </a:ext>
            </a:extLst>
          </p:cNvPr>
          <p:cNvSpPr txBox="1"/>
          <p:nvPr/>
        </p:nvSpPr>
        <p:spPr>
          <a:xfrm>
            <a:off x="786581" y="641243"/>
            <a:ext cx="2477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Column Major Mapping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BBD8E-A553-E2C7-CC7B-F45178991F4F}"/>
              </a:ext>
            </a:extLst>
          </p:cNvPr>
          <p:cNvSpPr txBox="1"/>
          <p:nvPr/>
        </p:nvSpPr>
        <p:spPr>
          <a:xfrm>
            <a:off x="6524924" y="1799304"/>
            <a:ext cx="3142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[3][2]. 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E76FF-C424-7DF7-0B94-1179EC9D23DB}"/>
              </a:ext>
            </a:extLst>
          </p:cNvPr>
          <p:cNvSpPr txBox="1"/>
          <p:nvPr/>
        </p:nvSpPr>
        <p:spPr>
          <a:xfrm>
            <a:off x="6811381" y="2662084"/>
            <a:ext cx="2569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[ 2*4 + 3] * 4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= 200 + 44 = 244</a:t>
            </a:r>
          </a:p>
        </p:txBody>
      </p:sp>
    </p:spTree>
    <p:extLst>
      <p:ext uri="{BB962C8B-B14F-4D97-AF65-F5344CB8AC3E}">
        <p14:creationId xmlns:p14="http://schemas.microsoft.com/office/powerpoint/2010/main" val="2093698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C41CD-9FA5-761B-9920-B2B15377A3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658813"/>
            <a:ext cx="105156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Col Major Mapping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sz="2400" b="1" dirty="0" err="1"/>
              <a:t>Arr</a:t>
            </a:r>
            <a:r>
              <a:rPr lang="en-US" sz="2400" b="1" dirty="0"/>
              <a:t>[3…6,  5…7]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D1BD5-6AA3-826D-C4AE-3BD8621C2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083517"/>
              </p:ext>
            </p:extLst>
          </p:nvPr>
        </p:nvGraphicFramePr>
        <p:xfrm>
          <a:off x="1245417" y="1931987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52051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347020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8CEE23-9D4B-748D-C05A-BE254C29E351}"/>
              </a:ext>
            </a:extLst>
          </p:cNvPr>
          <p:cNvSpPr txBox="1"/>
          <p:nvPr/>
        </p:nvSpPr>
        <p:spPr>
          <a:xfrm>
            <a:off x="6919536" y="1494504"/>
            <a:ext cx="3142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[5][7].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4222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7E72C5-D99F-B0D5-CDB2-EFD973DEE50E}"/>
              </a:ext>
            </a:extLst>
          </p:cNvPr>
          <p:cNvSpPr txBox="1"/>
          <p:nvPr/>
        </p:nvSpPr>
        <p:spPr>
          <a:xfrm>
            <a:off x="6919536" y="3429000"/>
            <a:ext cx="42755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200 + [ (7-5)*(6-3+1) + (5-3) ] * 4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= 200 + 40 = 240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9134C-C6A4-A5D4-4CA8-7061E12370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658813"/>
            <a:ext cx="105156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Col Major Mapping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sz="2400" b="1" dirty="0" err="1"/>
              <a:t>Arr</a:t>
            </a:r>
            <a:r>
              <a:rPr lang="en-US" sz="2400" b="1" dirty="0"/>
              <a:t>[3…6,  5…7]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D611F6-9621-06CE-4EDF-6256E74F8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84977"/>
              </p:ext>
            </p:extLst>
          </p:nvPr>
        </p:nvGraphicFramePr>
        <p:xfrm>
          <a:off x="1245417" y="1931987"/>
          <a:ext cx="345440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32">
                  <a:extLst>
                    <a:ext uri="{9D8B030D-6E8A-4147-A177-3AD203B41FA5}">
                      <a16:colId xmlns:a16="http://schemas.microsoft.com/office/drawing/2014/main" val="3262279494"/>
                    </a:ext>
                  </a:extLst>
                </a:gridCol>
                <a:gridCol w="1052051">
                  <a:extLst>
                    <a:ext uri="{9D8B030D-6E8A-4147-A177-3AD203B41FA5}">
                      <a16:colId xmlns:a16="http://schemas.microsoft.com/office/drawing/2014/main" val="1503048671"/>
                    </a:ext>
                  </a:extLst>
                </a:gridCol>
                <a:gridCol w="1347020">
                  <a:extLst>
                    <a:ext uri="{9D8B030D-6E8A-4147-A177-3AD203B41FA5}">
                      <a16:colId xmlns:a16="http://schemas.microsoft.com/office/drawing/2014/main" val="2799546037"/>
                    </a:ext>
                  </a:extLst>
                </a:gridCol>
              </a:tblGrid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[3][7]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741950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[4][7]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20842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[5][7]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15819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[6][5]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[6][6]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1" dirty="0"/>
                    </a:p>
                    <a:p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Arr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[6][7]</a:t>
                      </a:r>
                    </a:p>
                    <a:p>
                      <a:endParaRPr lang="en-US" sz="1600" b="1" dirty="0"/>
                    </a:p>
                    <a:p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244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260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E72D2C-D306-BF7A-BD96-C9229C39A579}"/>
              </a:ext>
            </a:extLst>
          </p:cNvPr>
          <p:cNvSpPr txBox="1"/>
          <p:nvPr/>
        </p:nvSpPr>
        <p:spPr>
          <a:xfrm>
            <a:off x="6919536" y="1494504"/>
            <a:ext cx="3142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Address of </a:t>
            </a:r>
            <a:r>
              <a:rPr lang="en-US" sz="2000" b="1" dirty="0" err="1">
                <a:solidFill>
                  <a:srgbClr val="FF0000"/>
                </a:solidFill>
              </a:rPr>
              <a:t>Arr</a:t>
            </a:r>
            <a:r>
              <a:rPr lang="en-US" sz="2000" b="1" dirty="0">
                <a:solidFill>
                  <a:srgbClr val="FF0000"/>
                </a:solidFill>
              </a:rPr>
              <a:t>[5][7].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2360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E86C-6F03-8CD6-F467-9DFB34A1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177" y="1078374"/>
            <a:ext cx="11107994" cy="4351338"/>
          </a:xfrm>
        </p:spPr>
        <p:txBody>
          <a:bodyPr>
            <a:normAutofit/>
          </a:bodyPr>
          <a:lstStyle/>
          <a:p>
            <a:r>
              <a:rPr lang="en-US" dirty="0"/>
              <a:t>(a) Consider a memory system with row-wise memory allocation, a double array X[128][64] where each double is 8 bytes. Let X[20][10] = m + 50000 where m is the last 2 digits of your student id.</a:t>
            </a:r>
          </a:p>
          <a:p>
            <a:pPr marL="0" indent="0">
              <a:buNone/>
            </a:pPr>
            <a:r>
              <a:rPr lang="en-US" dirty="0"/>
              <a:t>[Example; if student id = 0112410261 ,then m = 61] </a:t>
            </a:r>
            <a:r>
              <a:rPr lang="en-US" b="1" dirty="0"/>
              <a:t>Calculate the  memory address of beginning of the array and X[22][15].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(b) If the system was column-wise will there be any changes to the result. Show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1717517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E5A30-22D0-CDBE-75A0-6B1FF201C9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22" y="1412669"/>
                <a:ext cx="10515600" cy="4351338"/>
              </a:xfrm>
            </p:spPr>
            <p:txBody>
              <a:bodyPr/>
              <a:lstStyle/>
              <a:p>
                <a:r>
                  <a:rPr lang="en-US" b="1" dirty="0"/>
                  <a:t>For m = 61:</a:t>
                </a:r>
                <a:endParaRPr lang="en-US" dirty="0"/>
              </a:p>
              <a:p>
                <a:r>
                  <a:rPr lang="en-US" b="1" dirty="0"/>
                  <a:t>Row-major: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addr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39741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addr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51125</m:t>
                    </m:r>
                  </m:oMath>
                </a14:m>
                <a:endParaRPr lang="ar-AE" dirty="0"/>
              </a:p>
              <a:p>
                <a:r>
                  <a:rPr lang="en-US" b="1" dirty="0"/>
                  <a:t>Column-major: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addr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39661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addr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nor/>
                      </m:rPr>
                      <a:rPr lang="ar-AE" i="1" smtClean="0"/>
                      <m:t> </m:t>
                    </m:r>
                    <m:r>
                      <a:rPr lang="ar-AE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E5A30-22D0-CDBE-75A0-6B1FF201C9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22" y="1412669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856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8FE2A4-6B6A-EFDA-07A4-FD4DDD36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92" y="2116393"/>
            <a:ext cx="10288436" cy="262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66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94B5C-5450-718C-678C-78B6ECB64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9652" y="626904"/>
                <a:ext cx="10058400" cy="561657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1. Assume row-major order</a:t>
                </a:r>
              </a:p>
              <a:p>
                <a:pPr marL="0" indent="0">
                  <a:buNone/>
                </a:pPr>
                <a:r>
                  <a:rPr lang="en-US" dirty="0"/>
                  <a:t>For a 0-indexed array grid[50][100] in row-major: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addr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1"/>
                          <m:t>grid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ar-AE" b="0" dirty="0"/>
              </a:p>
              <a:p>
                <a:r>
                  <a:rPr lang="en-US" b="1" dirty="0"/>
                  <a:t>Using grid[17][25]: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16900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16900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6900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endParaRPr lang="en-US" dirty="0"/>
              </a:p>
              <a:p>
                <a:endParaRPr lang="ar-AE" dirty="0"/>
              </a:p>
              <a:p>
                <a:r>
                  <a:rPr lang="en-US" b="1" dirty="0"/>
                  <a:t>Now, Check with grid[32][1]: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predicted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addr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10000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3200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3201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12804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22804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ar-AE" b="0" dirty="0"/>
              </a:p>
              <a:p>
                <a:r>
                  <a:rPr lang="en-US" dirty="0"/>
                  <a:t>This matches the given address.</a:t>
                </a:r>
                <a:br>
                  <a:rPr lang="en-US" dirty="0"/>
                </a:br>
                <a:r>
                  <a:rPr lang="en-US" dirty="0"/>
                  <a:t>So, </a:t>
                </a:r>
                <a:r>
                  <a:rPr lang="en-US" b="1" dirty="0"/>
                  <a:t>row-major addressing is consistent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94B5C-5450-718C-678C-78B6ECB64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9652" y="626904"/>
                <a:ext cx="10058400" cy="5616579"/>
              </a:xfrm>
              <a:blipFill>
                <a:blip r:embed="rId2"/>
                <a:stretch>
                  <a:fillRect l="-970" t="-2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3586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20A4C-8B8B-5AF5-1CB5-34D817A8B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688258"/>
                <a:ext cx="10058400" cy="5483942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2. Assume column-major order</a:t>
                </a:r>
              </a:p>
              <a:p>
                <a:r>
                  <a:rPr lang="en-US" dirty="0"/>
                  <a:t>For column-major: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addr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1"/>
                          <m:t>grid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b="0" dirty="0"/>
              </a:p>
              <a:p>
                <a:r>
                  <a:rPr lang="en-US" b="1" dirty="0"/>
                  <a:t>From grid[17][25]: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16900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16900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5068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11832</m:t>
                    </m:r>
                  </m:oMath>
                </a14:m>
                <a:endParaRPr lang="ar-AE" dirty="0"/>
              </a:p>
              <a:p>
                <a:r>
                  <a:rPr lang="en-US" b="1" dirty="0"/>
                  <a:t>Check with grid[32][1]: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predicted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addr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11832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11832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11832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328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12160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22804</m:t>
                    </m:r>
                  </m:oMath>
                </a14:m>
                <a:endParaRPr lang="ar-AE" b="0" dirty="0"/>
              </a:p>
              <a:p>
                <a:r>
                  <a:rPr lang="en-US" dirty="0"/>
                  <a:t>So </a:t>
                </a:r>
                <a:r>
                  <a:rPr lang="en-US" b="1" dirty="0"/>
                  <a:t>column-major cannot be correct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20A4C-8B8B-5AF5-1CB5-34D817A8B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688258"/>
                <a:ext cx="10058400" cy="5483942"/>
              </a:xfrm>
              <a:blipFill>
                <a:blip r:embed="rId2"/>
                <a:stretch>
                  <a:fillRect l="-1091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316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3097</Words>
  <Application>Microsoft Office PowerPoint</Application>
  <PresentationFormat>Widescreen</PresentationFormat>
  <Paragraphs>963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Office Theme</vt:lpstr>
      <vt:lpstr>Array Mapping (V1)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2D Array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Kibria</dc:creator>
  <cp:lastModifiedBy>md abdullah al sadik</cp:lastModifiedBy>
  <cp:revision>6</cp:revision>
  <dcterms:created xsi:type="dcterms:W3CDTF">2025-11-22T16:43:48Z</dcterms:created>
  <dcterms:modified xsi:type="dcterms:W3CDTF">2025-12-06T17:39:18Z</dcterms:modified>
</cp:coreProperties>
</file>